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24"/>
  </p:notesMasterIdLst>
  <p:handoutMasterIdLst>
    <p:handoutMasterId r:id="rId25"/>
  </p:handoutMasterIdLst>
  <p:sldIdLst>
    <p:sldId id="1497" r:id="rId5"/>
    <p:sldId id="1514" r:id="rId6"/>
    <p:sldId id="1519" r:id="rId7"/>
    <p:sldId id="1520" r:id="rId8"/>
    <p:sldId id="1515" r:id="rId9"/>
    <p:sldId id="1521" r:id="rId10"/>
    <p:sldId id="1522" r:id="rId11"/>
    <p:sldId id="1499" r:id="rId12"/>
    <p:sldId id="1524" r:id="rId13"/>
    <p:sldId id="1523" r:id="rId14"/>
    <p:sldId id="1525" r:id="rId15"/>
    <p:sldId id="1526" r:id="rId16"/>
    <p:sldId id="1527" r:id="rId17"/>
    <p:sldId id="1500" r:id="rId18"/>
    <p:sldId id="1529" r:id="rId19"/>
    <p:sldId id="1528" r:id="rId20"/>
    <p:sldId id="1530" r:id="rId21"/>
    <p:sldId id="1531" r:id="rId22"/>
    <p:sldId id="151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0079" autoAdjust="0"/>
  </p:normalViewPr>
  <p:slideViewPr>
    <p:cSldViewPr snapToGrid="0">
      <p:cViewPr varScale="1">
        <p:scale>
          <a:sx n="95" d="100"/>
          <a:sy n="95" d="100"/>
        </p:scale>
        <p:origin x="612" y="6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9/16/2026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9/16/2026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9/16/2026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9/16/2026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9/16/2026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9/16/2026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9/16/2026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9/16/2026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9/16/2026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9/16/2026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9/16/2026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9/16/2026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9/16/2026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9/16/2026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9/16/2026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9/16/2026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9/16/2026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9/16/2026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9/16/2026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9/16/2026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9/16/2026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9/16/2026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9/16/2026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9/16/2026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9/16/2026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9/16/2026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9/16/2026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9/16/2026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9/16/2026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9/16/2026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9/16/2026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9/16/2026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9/16/2026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9/16/2026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801929"/>
            <a:ext cx="8686801" cy="2565902"/>
          </a:xfrm>
        </p:spPr>
        <p:txBody>
          <a:bodyPr>
            <a:normAutofit fontScale="90000"/>
          </a:bodyPr>
          <a:lstStyle/>
          <a:p>
            <a:r>
              <a:rPr lang="en-US" dirty="0"/>
              <a:t>Security assessment of a simulated small business network</a:t>
            </a: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726269"/>
            <a:ext cx="3024899" cy="547908"/>
          </a:xfrm>
        </p:spPr>
        <p:txBody>
          <a:bodyPr>
            <a:normAutofit/>
          </a:bodyPr>
          <a:lstStyle/>
          <a:p>
            <a:r>
              <a:rPr lang="en-US" dirty="0"/>
              <a:t>Presented by Group 13</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859536" y="907302"/>
            <a:ext cx="4361688" cy="1386965"/>
          </a:xfrm>
        </p:spPr>
        <p:txBody>
          <a:bodyPr/>
          <a:lstStyle/>
          <a:p>
            <a:r>
              <a:rPr lang="en-US" dirty="0"/>
              <a:t>Main Task Objective:</a:t>
            </a:r>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859536" y="2438545"/>
            <a:ext cx="4366917" cy="3512152"/>
          </a:xfrm>
        </p:spPr>
        <p:txBody>
          <a:bodyPr/>
          <a:lstStyle/>
          <a:p>
            <a:pPr marL="0" indent="0">
              <a:buNone/>
            </a:pPr>
            <a:r>
              <a:rPr lang="en-US" dirty="0"/>
              <a:t>Conduct an authorized security assessment of the network and determine the most important security weaknesses.</a:t>
            </a:r>
          </a:p>
        </p:txBody>
      </p:sp>
      <p:pic>
        <p:nvPicPr>
          <p:cNvPr id="15" name="Picture Placeholder 14" descr="A white object on a white surface">
            <a:extLst>
              <a:ext uri="{FF2B5EF4-FFF2-40B4-BE49-F238E27FC236}">
                <a16:creationId xmlns:a16="http://schemas.microsoft.com/office/drawing/2014/main" id="{7270AD1A-8F9F-BF9D-AE26-986ADE7EF35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5749422" y="333756"/>
            <a:ext cx="6086539" cy="6190488"/>
          </a:xfrm>
        </p:spPr>
      </p:pic>
    </p:spTree>
    <p:extLst>
      <p:ext uri="{BB962C8B-B14F-4D97-AF65-F5344CB8AC3E}">
        <p14:creationId xmlns:p14="http://schemas.microsoft.com/office/powerpoint/2010/main" val="200202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3367D-A757-D0E8-3AB0-1DF6FB093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9C850-E58A-6426-7E23-21524314F50D}"/>
              </a:ext>
            </a:extLst>
          </p:cNvPr>
          <p:cNvSpPr>
            <a:spLocks noGrp="1"/>
          </p:cNvSpPr>
          <p:nvPr>
            <p:ph type="title"/>
          </p:nvPr>
        </p:nvSpPr>
        <p:spPr>
          <a:xfrm>
            <a:off x="6675389" y="2438545"/>
            <a:ext cx="4361688" cy="1386965"/>
          </a:xfrm>
        </p:spPr>
        <p:txBody>
          <a:bodyPr/>
          <a:lstStyle/>
          <a:p>
            <a:r>
              <a:rPr lang="en-US" dirty="0"/>
              <a:t>Required Activities </a:t>
            </a:r>
          </a:p>
        </p:txBody>
      </p:sp>
      <p:sp>
        <p:nvSpPr>
          <p:cNvPr id="3" name="Content Placeholder 2">
            <a:extLst>
              <a:ext uri="{FF2B5EF4-FFF2-40B4-BE49-F238E27FC236}">
                <a16:creationId xmlns:a16="http://schemas.microsoft.com/office/drawing/2014/main" id="{7D2C65F0-7A50-51F4-D4E5-D830483EF1EA}"/>
              </a:ext>
            </a:extLst>
          </p:cNvPr>
          <p:cNvSpPr>
            <a:spLocks noGrp="1"/>
          </p:cNvSpPr>
          <p:nvPr>
            <p:ph sz="quarter" idx="14"/>
          </p:nvPr>
        </p:nvSpPr>
        <p:spPr>
          <a:xfrm>
            <a:off x="886429" y="1232719"/>
            <a:ext cx="5043723" cy="4392561"/>
          </a:xfrm>
        </p:spPr>
        <p:txBody>
          <a:bodyPr>
            <a:normAutofit fontScale="77500" lnSpcReduction="20000"/>
          </a:bodyPr>
          <a:lstStyle/>
          <a:p>
            <a:pPr lvl="0"/>
            <a:r>
              <a:rPr lang="en-US" dirty="0"/>
              <a:t>Create a network asset inventory and annotated topology diagram.</a:t>
            </a:r>
          </a:p>
          <a:p>
            <a:pPr lvl="0"/>
            <a:r>
              <a:rPr lang="en-US" dirty="0"/>
              <a:t>Identify approved hosts, ports, protocols, and exposed services.</a:t>
            </a:r>
          </a:p>
          <a:p>
            <a:pPr lvl="0"/>
            <a:r>
              <a:rPr lang="en-US" dirty="0"/>
              <a:t>Compare expected and unexpected services and document the attack surface.</a:t>
            </a:r>
          </a:p>
          <a:p>
            <a:pPr lvl="0"/>
            <a:r>
              <a:rPr lang="en-US" dirty="0"/>
              <a:t>Conduct controlled asset discovery and an approved vulnerability assessment.</a:t>
            </a:r>
          </a:p>
          <a:p>
            <a:pPr lvl="0"/>
            <a:r>
              <a:rPr lang="en-US" dirty="0"/>
              <a:t>Manually validate selected scanner findings and identify false positives.</a:t>
            </a:r>
          </a:p>
          <a:p>
            <a:pPr lvl="0"/>
            <a:r>
              <a:rPr lang="en-US" dirty="0"/>
              <a:t>Assess misconfigurations, patching, permissions, insecure services, and administrative exposure.</a:t>
            </a:r>
          </a:p>
          <a:p>
            <a:pPr lvl="0"/>
            <a:r>
              <a:rPr lang="en-US" dirty="0"/>
              <a:t>Rank confirmed findings using likelihood, impact, exploitability, and business context.</a:t>
            </a:r>
          </a:p>
          <a:p>
            <a:pPr lvl="0"/>
            <a:r>
              <a:rPr lang="en-US" dirty="0"/>
              <a:t>Recommend practical remediation and retest selected issues after fixes.</a:t>
            </a:r>
          </a:p>
          <a:p>
            <a:endParaRPr lang="en-US" dirty="0"/>
          </a:p>
        </p:txBody>
      </p:sp>
    </p:spTree>
    <p:extLst>
      <p:ext uri="{BB962C8B-B14F-4D97-AF65-F5344CB8AC3E}">
        <p14:creationId xmlns:p14="http://schemas.microsoft.com/office/powerpoint/2010/main" val="3779927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E2051-38BC-3704-9265-9117F25F7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C3123-9DE0-CF59-7BBE-0EF80212E38A}"/>
              </a:ext>
            </a:extLst>
          </p:cNvPr>
          <p:cNvSpPr>
            <a:spLocks noGrp="1"/>
          </p:cNvSpPr>
          <p:nvPr>
            <p:ph type="title"/>
          </p:nvPr>
        </p:nvSpPr>
        <p:spPr>
          <a:xfrm>
            <a:off x="7213272" y="949606"/>
            <a:ext cx="4361688" cy="1386965"/>
          </a:xfrm>
        </p:spPr>
        <p:txBody>
          <a:bodyPr/>
          <a:lstStyle/>
          <a:p>
            <a:r>
              <a:rPr lang="en-US" dirty="0"/>
              <a:t>Expected Deliverable:</a:t>
            </a:r>
          </a:p>
        </p:txBody>
      </p:sp>
      <p:sp>
        <p:nvSpPr>
          <p:cNvPr id="3" name="Content Placeholder 2">
            <a:extLst>
              <a:ext uri="{FF2B5EF4-FFF2-40B4-BE49-F238E27FC236}">
                <a16:creationId xmlns:a16="http://schemas.microsoft.com/office/drawing/2014/main" id="{DDA9BCF1-4D3F-22EC-E586-F1368964FBE0}"/>
              </a:ext>
            </a:extLst>
          </p:cNvPr>
          <p:cNvSpPr>
            <a:spLocks noGrp="1"/>
          </p:cNvSpPr>
          <p:nvPr>
            <p:ph sz="quarter" idx="14"/>
          </p:nvPr>
        </p:nvSpPr>
        <p:spPr>
          <a:xfrm>
            <a:off x="7213272" y="2720933"/>
            <a:ext cx="4366917" cy="3512152"/>
          </a:xfrm>
        </p:spPr>
        <p:txBody>
          <a:bodyPr/>
          <a:lstStyle/>
          <a:p>
            <a:pPr marL="0" indent="0">
              <a:buNone/>
            </a:pPr>
            <a:r>
              <a:rPr lang="en-US" dirty="0"/>
              <a:t>Small-Business Network Security Assessment Report with at least five well-supported findings.</a:t>
            </a:r>
          </a:p>
        </p:txBody>
      </p:sp>
      <p:pic>
        <p:nvPicPr>
          <p:cNvPr id="15" name="Picture Placeholder 14" descr="A white object on a white surface">
            <a:extLst>
              <a:ext uri="{FF2B5EF4-FFF2-40B4-BE49-F238E27FC236}">
                <a16:creationId xmlns:a16="http://schemas.microsoft.com/office/drawing/2014/main" id="{72D4EED0-F40B-5D42-5CFA-9695C74860F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531128" y="388039"/>
            <a:ext cx="5979796" cy="6081922"/>
          </a:xfrm>
        </p:spPr>
      </p:pic>
    </p:spTree>
    <p:extLst>
      <p:ext uri="{BB962C8B-B14F-4D97-AF65-F5344CB8AC3E}">
        <p14:creationId xmlns:p14="http://schemas.microsoft.com/office/powerpoint/2010/main" val="249518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2995F6E0-E4ED-A346-FD77-7541F6FE1A41}"/>
              </a:ext>
            </a:extLst>
          </p:cNvPr>
          <p:cNvSpPr>
            <a:spLocks noGrp="1"/>
          </p:cNvSpPr>
          <p:nvPr>
            <p:ph type="title"/>
          </p:nvPr>
        </p:nvSpPr>
        <p:spPr>
          <a:xfrm>
            <a:off x="860893" y="907303"/>
            <a:ext cx="10465073" cy="1132258"/>
          </a:xfrm>
        </p:spPr>
        <p:txBody>
          <a:bodyPr/>
          <a:lstStyle/>
          <a:p>
            <a:r>
              <a:rPr lang="en-US" dirty="0"/>
              <a:t>Network Asset Inventory</a:t>
            </a:r>
          </a:p>
        </p:txBody>
      </p:sp>
      <p:pic>
        <p:nvPicPr>
          <p:cNvPr id="9" name="Content Placeholder 8">
            <a:extLst>
              <a:ext uri="{FF2B5EF4-FFF2-40B4-BE49-F238E27FC236}">
                <a16:creationId xmlns:a16="http://schemas.microsoft.com/office/drawing/2014/main" id="{23E69283-5B61-3F9C-341C-CFA928C894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0893" y="1781120"/>
            <a:ext cx="10235498" cy="4247730"/>
          </a:xfrm>
          <a:prstGeom prst="rect">
            <a:avLst/>
          </a:prstGeom>
          <a:noFill/>
        </p:spPr>
      </p:pic>
    </p:spTree>
    <p:extLst>
      <p:ext uri="{BB962C8B-B14F-4D97-AF65-F5344CB8AC3E}">
        <p14:creationId xmlns:p14="http://schemas.microsoft.com/office/powerpoint/2010/main" val="3408536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977B-3D7E-8652-28DE-DEDD9F80085C}"/>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DF38B77B-F266-364F-8C93-DEDF15536528}"/>
              </a:ext>
            </a:extLst>
          </p:cNvPr>
          <p:cNvSpPr>
            <a:spLocks noGrp="1"/>
          </p:cNvSpPr>
          <p:nvPr>
            <p:ph type="title"/>
          </p:nvPr>
        </p:nvSpPr>
        <p:spPr>
          <a:xfrm>
            <a:off x="813829" y="1055221"/>
            <a:ext cx="3852301" cy="1132258"/>
          </a:xfrm>
        </p:spPr>
        <p:txBody>
          <a:bodyPr/>
          <a:lstStyle/>
          <a:p>
            <a:r>
              <a:rPr lang="en-US" dirty="0"/>
              <a:t>Annotated Topology Diagram</a:t>
            </a:r>
          </a:p>
        </p:txBody>
      </p:sp>
      <p:pic>
        <p:nvPicPr>
          <p:cNvPr id="5" name="Content Placeholder 4">
            <a:extLst>
              <a:ext uri="{FF2B5EF4-FFF2-40B4-BE49-F238E27FC236}">
                <a16:creationId xmlns:a16="http://schemas.microsoft.com/office/drawing/2014/main" id="{A9C1AC16-B2C6-0E5A-1BF1-DEB66AB962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3977" y="0"/>
            <a:ext cx="6443903" cy="6858000"/>
          </a:xfrm>
          <a:prstGeom prst="rect">
            <a:avLst/>
          </a:prstGeom>
        </p:spPr>
      </p:pic>
    </p:spTree>
    <p:extLst>
      <p:ext uri="{BB962C8B-B14F-4D97-AF65-F5344CB8AC3E}">
        <p14:creationId xmlns:p14="http://schemas.microsoft.com/office/powerpoint/2010/main" val="1201915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B8351-9C4C-D0A3-31EB-493F13D607F8}"/>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4A0476B1-64D9-57D1-9036-B36B40D4F86A}"/>
              </a:ext>
            </a:extLst>
          </p:cNvPr>
          <p:cNvSpPr>
            <a:spLocks noGrp="1"/>
          </p:cNvSpPr>
          <p:nvPr>
            <p:ph type="title"/>
          </p:nvPr>
        </p:nvSpPr>
        <p:spPr>
          <a:xfrm>
            <a:off x="6764325" y="2296742"/>
            <a:ext cx="3852301" cy="1132258"/>
          </a:xfrm>
        </p:spPr>
        <p:txBody>
          <a:bodyPr/>
          <a:lstStyle/>
          <a:p>
            <a:r>
              <a:rPr lang="en-US" dirty="0"/>
              <a:t>Host Discovery&amp; Port Scanning</a:t>
            </a:r>
          </a:p>
        </p:txBody>
      </p:sp>
      <p:pic>
        <p:nvPicPr>
          <p:cNvPr id="6" name="Content Placeholder 5">
            <a:extLst>
              <a:ext uri="{FF2B5EF4-FFF2-40B4-BE49-F238E27FC236}">
                <a16:creationId xmlns:a16="http://schemas.microsoft.com/office/drawing/2014/main" id="{E0B6142B-29D2-DD6E-91CC-9C437A07B1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427677" cy="6864646"/>
          </a:xfrm>
          <a:prstGeom prst="rect">
            <a:avLst/>
          </a:prstGeom>
        </p:spPr>
      </p:pic>
    </p:spTree>
    <p:extLst>
      <p:ext uri="{BB962C8B-B14F-4D97-AF65-F5344CB8AC3E}">
        <p14:creationId xmlns:p14="http://schemas.microsoft.com/office/powerpoint/2010/main" val="3941274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1523206" y="1613693"/>
            <a:ext cx="9145588" cy="3630613"/>
          </a:xfrm>
        </p:spPr>
        <p:txBody>
          <a:bodyPr anchor="b"/>
          <a:lstStyle/>
          <a:p>
            <a:r>
              <a:rPr lang="en-US" dirty="0"/>
              <a:t>Attack Surface &amp; Service Discrepancy Analysis</a:t>
            </a:r>
          </a:p>
        </p:txBody>
      </p:sp>
    </p:spTree>
    <p:extLst>
      <p:ext uri="{BB962C8B-B14F-4D97-AF65-F5344CB8AC3E}">
        <p14:creationId xmlns:p14="http://schemas.microsoft.com/office/powerpoint/2010/main" val="1751885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3E20-6522-A37D-05B6-7C3498E614B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BB04E6-43BB-CE36-5B6C-EDC14389E236}"/>
              </a:ext>
            </a:extLst>
          </p:cNvPr>
          <p:cNvSpPr>
            <a:spLocks noGrp="1"/>
          </p:cNvSpPr>
          <p:nvPr>
            <p:ph sz="quarter" idx="14"/>
          </p:nvPr>
        </p:nvSpPr>
        <p:spPr>
          <a:xfrm>
            <a:off x="2547142" y="2402612"/>
            <a:ext cx="7598665" cy="4392561"/>
          </a:xfrm>
        </p:spPr>
        <p:txBody>
          <a:bodyPr>
            <a:normAutofit/>
          </a:bodyPr>
          <a:lstStyle/>
          <a:p>
            <a:pPr marL="0" lvl="0" indent="0">
              <a:buNone/>
            </a:pPr>
            <a:r>
              <a:rPr lang="en-US" dirty="0"/>
              <a:t>A comparative analysis was conducted between the organization’s expected business services and the actual active services discovered during the network scanning phase. Unnecessary or unauthorized services directly expand the network's attack surface and introduce avoidable security risks.</a:t>
            </a:r>
          </a:p>
        </p:txBody>
      </p:sp>
    </p:spTree>
    <p:extLst>
      <p:ext uri="{BB962C8B-B14F-4D97-AF65-F5344CB8AC3E}">
        <p14:creationId xmlns:p14="http://schemas.microsoft.com/office/powerpoint/2010/main" val="2152421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68656-276E-F568-98FE-BE7760F56B78}"/>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2AA21A23-48FA-ED08-4DAB-7395D478CE69}"/>
              </a:ext>
            </a:extLst>
          </p:cNvPr>
          <p:cNvSpPr>
            <a:spLocks noGrp="1"/>
          </p:cNvSpPr>
          <p:nvPr>
            <p:ph type="title"/>
          </p:nvPr>
        </p:nvSpPr>
        <p:spPr>
          <a:xfrm>
            <a:off x="860893" y="907303"/>
            <a:ext cx="10465073" cy="1132258"/>
          </a:xfrm>
        </p:spPr>
        <p:txBody>
          <a:bodyPr/>
          <a:lstStyle/>
          <a:p>
            <a:r>
              <a:rPr lang="en-US" dirty="0"/>
              <a:t>Service Comparison Summary</a:t>
            </a:r>
          </a:p>
        </p:txBody>
      </p:sp>
      <p:pic>
        <p:nvPicPr>
          <p:cNvPr id="10" name="Content Placeholder 9">
            <a:extLst>
              <a:ext uri="{FF2B5EF4-FFF2-40B4-BE49-F238E27FC236}">
                <a16:creationId xmlns:a16="http://schemas.microsoft.com/office/drawing/2014/main" id="{3E087F75-F245-488F-03B2-D8B1DC047327}"/>
              </a:ext>
            </a:extLst>
          </p:cNvPr>
          <p:cNvPicPr>
            <a:picLocks noGrp="1" noChangeAspect="1"/>
          </p:cNvPicPr>
          <p:nvPr>
            <p:ph idx="1"/>
          </p:nvPr>
        </p:nvPicPr>
        <p:blipFill>
          <a:blip r:embed="rId2"/>
          <a:stretch>
            <a:fillRect/>
          </a:stretch>
        </p:blipFill>
        <p:spPr>
          <a:xfrm>
            <a:off x="860893" y="2039561"/>
            <a:ext cx="8217322" cy="3048157"/>
          </a:xfrm>
          <a:prstGeom prst="rect">
            <a:avLst/>
          </a:prstGeom>
        </p:spPr>
      </p:pic>
    </p:spTree>
    <p:extLst>
      <p:ext uri="{BB962C8B-B14F-4D97-AF65-F5344CB8AC3E}">
        <p14:creationId xmlns:p14="http://schemas.microsoft.com/office/powerpoint/2010/main" val="71031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B4B7E-A293-91E7-294B-BDE414BBDC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5FDA34-7E23-CA17-2B7B-5CBA05192BDC}"/>
              </a:ext>
            </a:extLst>
          </p:cNvPr>
          <p:cNvSpPr>
            <a:spLocks noGrp="1"/>
          </p:cNvSpPr>
          <p:nvPr>
            <p:ph sz="quarter" idx="14"/>
          </p:nvPr>
        </p:nvSpPr>
        <p:spPr>
          <a:xfrm>
            <a:off x="2365607" y="1494936"/>
            <a:ext cx="7598665" cy="4392561"/>
          </a:xfrm>
        </p:spPr>
        <p:txBody>
          <a:bodyPr>
            <a:normAutofit/>
          </a:bodyPr>
          <a:lstStyle/>
          <a:p>
            <a:pPr marL="0" indent="0">
              <a:buNone/>
            </a:pPr>
            <a:r>
              <a:rPr lang="en-US" sz="1800" b="1" dirty="0"/>
              <a:t>Analysis of Expanded Attack Surface</a:t>
            </a:r>
          </a:p>
          <a:p>
            <a:pPr lvl="0"/>
            <a:r>
              <a:rPr lang="en-US" b="1" dirty="0"/>
              <a:t>Host 192.168.2.20 (Public Web Server):</a:t>
            </a:r>
            <a:r>
              <a:rPr lang="en-US" dirty="0"/>
              <a:t> This asset is strictly designated to host the public corporate website. However, active port scanning revealed an open </a:t>
            </a:r>
            <a:r>
              <a:rPr lang="en-US" b="1" dirty="0"/>
              <a:t>FTP (Port 21)</a:t>
            </a:r>
            <a:r>
              <a:rPr lang="en-US" dirty="0"/>
              <a:t> service. Because this server sits in the public DMZ, exposing an unmonitored file transfer port significantly broadens the attack surface, inviting brute-force access attempts and potential web directory traversal attacks.</a:t>
            </a:r>
          </a:p>
          <a:p>
            <a:pPr lvl="0"/>
            <a:r>
              <a:rPr lang="en-US" b="1" dirty="0"/>
              <a:t>Host 192.168.1.30 (Internal NAS Backup):</a:t>
            </a:r>
            <a:r>
              <a:rPr lang="en-US" dirty="0"/>
              <a:t> This device functions as the internal storage repository for corporate backups. In addition to expected file-sharing protocols, the system was found to be exposing </a:t>
            </a:r>
            <a:r>
              <a:rPr lang="en-US" b="1" dirty="0"/>
              <a:t>Telnet (Port 23)</a:t>
            </a:r>
            <a:r>
              <a:rPr lang="en-US" dirty="0"/>
              <a:t>. Telnet transmits administrative credentials in cleartext, meaning any internal adversary or malware performing packet sniffing could easily capture the network storage root password.</a:t>
            </a:r>
          </a:p>
        </p:txBody>
      </p:sp>
    </p:spTree>
    <p:extLst>
      <p:ext uri="{BB962C8B-B14F-4D97-AF65-F5344CB8AC3E}">
        <p14:creationId xmlns:p14="http://schemas.microsoft.com/office/powerpoint/2010/main" val="2462060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9754E-79B4-AE63-2D8F-D8C5C7C382C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FF20490-E623-D54C-F670-2EABEDF9723F}"/>
              </a:ext>
            </a:extLst>
          </p:cNvPr>
          <p:cNvSpPr>
            <a:spLocks noGrp="1"/>
          </p:cNvSpPr>
          <p:nvPr>
            <p:ph type="title"/>
          </p:nvPr>
        </p:nvSpPr>
        <p:spPr>
          <a:xfrm>
            <a:off x="1697375" y="316940"/>
            <a:ext cx="8738530" cy="1132258"/>
          </a:xfrm>
        </p:spPr>
        <p:txBody>
          <a:bodyPr/>
          <a:lstStyle/>
          <a:p>
            <a:r>
              <a:rPr lang="en-US" dirty="0"/>
              <a:t>Vulnerability Assessment</a:t>
            </a:r>
          </a:p>
        </p:txBody>
      </p:sp>
      <p:pic>
        <p:nvPicPr>
          <p:cNvPr id="5" name="Content Placeholder 4">
            <a:extLst>
              <a:ext uri="{FF2B5EF4-FFF2-40B4-BE49-F238E27FC236}">
                <a16:creationId xmlns:a16="http://schemas.microsoft.com/office/drawing/2014/main" id="{BFC2E1FC-30CB-F172-E349-25DA1FEFF0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7375" y="1007946"/>
            <a:ext cx="8903977" cy="5698545"/>
          </a:xfrm>
          <a:prstGeom prst="rect">
            <a:avLst/>
          </a:prstGeom>
        </p:spPr>
      </p:pic>
    </p:spTree>
    <p:extLst>
      <p:ext uri="{BB962C8B-B14F-4D97-AF65-F5344CB8AC3E}">
        <p14:creationId xmlns:p14="http://schemas.microsoft.com/office/powerpoint/2010/main" val="2904167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533D-915E-E3F5-5220-613D6CB41848}"/>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1A4F3A8-CE3E-F5B3-3559-F85BAC819457}"/>
              </a:ext>
            </a:extLst>
          </p:cNvPr>
          <p:cNvSpPr>
            <a:spLocks noGrp="1"/>
          </p:cNvSpPr>
          <p:nvPr>
            <p:ph type="title"/>
          </p:nvPr>
        </p:nvSpPr>
        <p:spPr>
          <a:xfrm>
            <a:off x="6764325" y="2296742"/>
            <a:ext cx="4267198" cy="1132258"/>
          </a:xfrm>
        </p:spPr>
        <p:txBody>
          <a:bodyPr/>
          <a:lstStyle/>
          <a:p>
            <a:r>
              <a:rPr lang="en-US" dirty="0"/>
              <a:t>Manual </a:t>
            </a:r>
            <a:br>
              <a:rPr lang="en-US" dirty="0"/>
            </a:br>
            <a:r>
              <a:rPr lang="en-US" dirty="0"/>
              <a:t>Verification</a:t>
            </a:r>
          </a:p>
        </p:txBody>
      </p:sp>
      <p:pic>
        <p:nvPicPr>
          <p:cNvPr id="4" name="Content Placeholder 3" descr="Netcat (nc) Command Tutorial: The Ultimate Networking Swiss Army Knife 🧰">
            <a:extLst>
              <a:ext uri="{FF2B5EF4-FFF2-40B4-BE49-F238E27FC236}">
                <a16:creationId xmlns:a16="http://schemas.microsoft.com/office/drawing/2014/main" id="{6A993202-FE17-8260-7A97-A6FF12307658}"/>
              </a:ext>
            </a:extLst>
          </p:cNvPr>
          <p:cNvPicPr>
            <a:picLocks noGrp="1" noChangeAspect="1"/>
          </p:cNvPicPr>
          <p:nvPr>
            <p:ph idx="1"/>
          </p:nvPr>
        </p:nvPicPr>
        <p:blipFill>
          <a:blip r:embed="rId2"/>
          <a:stretch>
            <a:fillRect/>
          </a:stretch>
        </p:blipFill>
        <p:spPr>
          <a:xfrm>
            <a:off x="80981" y="1637506"/>
            <a:ext cx="6369754" cy="3582987"/>
          </a:xfrm>
          <a:prstGeom prst="rect">
            <a:avLst/>
          </a:prstGeom>
        </p:spPr>
      </p:pic>
    </p:spTree>
    <p:extLst>
      <p:ext uri="{BB962C8B-B14F-4D97-AF65-F5344CB8AC3E}">
        <p14:creationId xmlns:p14="http://schemas.microsoft.com/office/powerpoint/2010/main" val="1821494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072A-5F3E-FB56-A498-3CACC2BCD40B}"/>
              </a:ext>
            </a:extLst>
          </p:cNvPr>
          <p:cNvSpPr>
            <a:spLocks noGrp="1"/>
          </p:cNvSpPr>
          <p:nvPr>
            <p:ph type="title"/>
          </p:nvPr>
        </p:nvSpPr>
        <p:spPr>
          <a:xfrm>
            <a:off x="612648" y="907302"/>
            <a:ext cx="4361688" cy="1649694"/>
          </a:xfrm>
        </p:spPr>
        <p:txBody>
          <a:bodyPr>
            <a:normAutofit fontScale="90000"/>
          </a:bodyPr>
          <a:lstStyle/>
          <a:p>
            <a:r>
              <a:rPr lang="en-US" dirty="0"/>
              <a:t>Deep Dive Assessment Areas</a:t>
            </a:r>
          </a:p>
        </p:txBody>
      </p:sp>
      <p:sp>
        <p:nvSpPr>
          <p:cNvPr id="3" name="Text Placeholder 2">
            <a:extLst>
              <a:ext uri="{FF2B5EF4-FFF2-40B4-BE49-F238E27FC236}">
                <a16:creationId xmlns:a16="http://schemas.microsoft.com/office/drawing/2014/main" id="{017EDA3D-7A3B-89EE-20EE-3C585535263A}"/>
              </a:ext>
            </a:extLst>
          </p:cNvPr>
          <p:cNvSpPr>
            <a:spLocks noGrp="1"/>
          </p:cNvSpPr>
          <p:nvPr>
            <p:ph type="body" sz="half" idx="2"/>
          </p:nvPr>
        </p:nvSpPr>
        <p:spPr>
          <a:xfrm>
            <a:off x="612648" y="2826137"/>
            <a:ext cx="4361688" cy="3434638"/>
          </a:xfrm>
        </p:spPr>
        <p:txBody>
          <a:bodyPr anchor="t">
            <a:normAutofit/>
          </a:bodyPr>
          <a:lstStyle/>
          <a:p>
            <a:r>
              <a:rPr lang="en-US" b="1" dirty="0"/>
              <a:t>Misconfigurations:</a:t>
            </a:r>
            <a:r>
              <a:rPr lang="en-US" dirty="0"/>
              <a:t> </a:t>
            </a:r>
          </a:p>
          <a:p>
            <a:pPr marL="285750" indent="-285750">
              <a:buFont typeface="Arial" panose="020B0604020202020204" pitchFamily="34" charset="0"/>
              <a:buChar char="•"/>
            </a:pPr>
            <a:r>
              <a:rPr lang="en-US" dirty="0"/>
              <a:t>Default passwords left unchanged</a:t>
            </a:r>
          </a:p>
          <a:p>
            <a:pPr marL="285750" indent="-285750">
              <a:buFont typeface="Arial" panose="020B0604020202020204" pitchFamily="34" charset="0"/>
              <a:buChar char="•"/>
            </a:pPr>
            <a:r>
              <a:rPr lang="en-US" dirty="0"/>
              <a:t>Anonymous login allowed on FTP </a:t>
            </a:r>
          </a:p>
        </p:txBody>
      </p:sp>
      <p:pic>
        <p:nvPicPr>
          <p:cNvPr id="11" name="Picture Placeholder 10" descr="A white paper figure in the air">
            <a:extLst>
              <a:ext uri="{FF2B5EF4-FFF2-40B4-BE49-F238E27FC236}">
                <a16:creationId xmlns:a16="http://schemas.microsoft.com/office/drawing/2014/main" id="{75885EE0-9135-0E4E-6ED4-37F31FB81161}"/>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6071625" y="862357"/>
            <a:ext cx="5170964" cy="5170964"/>
          </a:xfrm>
        </p:spPr>
      </p:pic>
    </p:spTree>
    <p:extLst>
      <p:ext uri="{BB962C8B-B14F-4D97-AF65-F5344CB8AC3E}">
        <p14:creationId xmlns:p14="http://schemas.microsoft.com/office/powerpoint/2010/main" val="948600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1854-657F-C848-1106-275CCB7F5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B8C82-F58D-1199-3CF0-4A0CDF67A058}"/>
              </a:ext>
            </a:extLst>
          </p:cNvPr>
          <p:cNvSpPr>
            <a:spLocks noGrp="1"/>
          </p:cNvSpPr>
          <p:nvPr>
            <p:ph type="title"/>
          </p:nvPr>
        </p:nvSpPr>
        <p:spPr>
          <a:xfrm>
            <a:off x="6489012" y="2346138"/>
            <a:ext cx="4361688" cy="1649694"/>
          </a:xfrm>
        </p:spPr>
        <p:txBody>
          <a:bodyPr>
            <a:normAutofit/>
          </a:bodyPr>
          <a:lstStyle/>
          <a:p>
            <a:r>
              <a:rPr lang="en-US" dirty="0"/>
              <a:t>Risk Ranking Matrix</a:t>
            </a:r>
          </a:p>
        </p:txBody>
      </p:sp>
      <p:sp>
        <p:nvSpPr>
          <p:cNvPr id="3" name="Text Placeholder 2">
            <a:extLst>
              <a:ext uri="{FF2B5EF4-FFF2-40B4-BE49-F238E27FC236}">
                <a16:creationId xmlns:a16="http://schemas.microsoft.com/office/drawing/2014/main" id="{8C16AEB6-6BDB-AB55-8EF4-FCE9B18673F9}"/>
              </a:ext>
            </a:extLst>
          </p:cNvPr>
          <p:cNvSpPr>
            <a:spLocks noGrp="1"/>
          </p:cNvSpPr>
          <p:nvPr>
            <p:ph type="body" sz="half" idx="2"/>
          </p:nvPr>
        </p:nvSpPr>
        <p:spPr>
          <a:xfrm>
            <a:off x="683668" y="1397191"/>
            <a:ext cx="4553962" cy="4058757"/>
          </a:xfrm>
        </p:spPr>
        <p:txBody>
          <a:bodyPr anchor="t">
            <a:normAutofit fontScale="92500" lnSpcReduction="20000"/>
          </a:bodyPr>
          <a:lstStyle/>
          <a:p>
            <a:r>
              <a:rPr lang="en-US" dirty="0"/>
              <a:t>Risk Score = Likelihood X Impact </a:t>
            </a:r>
          </a:p>
          <a:p>
            <a:endParaRPr lang="en-US" dirty="0"/>
          </a:p>
          <a:p>
            <a:r>
              <a:rPr lang="en-US" b="1" i="1" dirty="0"/>
              <a:t>Scoring Criteria (1 to 5 Scale)</a:t>
            </a:r>
          </a:p>
          <a:p>
            <a:r>
              <a:rPr lang="en-US" b="1" dirty="0"/>
              <a:t>Likelihood:</a:t>
            </a:r>
            <a:r>
              <a:rPr lang="en-US" dirty="0"/>
              <a:t> </a:t>
            </a:r>
          </a:p>
          <a:p>
            <a:r>
              <a:rPr lang="en-US" dirty="0"/>
              <a:t>1 = Rare/Near Impossible, </a:t>
            </a:r>
          </a:p>
          <a:p>
            <a:r>
              <a:rPr lang="en-US" dirty="0"/>
              <a:t>3=Moderate(Requires effort)</a:t>
            </a:r>
          </a:p>
          <a:p>
            <a:r>
              <a:rPr lang="en-US" dirty="0"/>
              <a:t>5 = High(Public exploit available)</a:t>
            </a:r>
          </a:p>
          <a:p>
            <a:r>
              <a:rPr lang="en-US" b="1" dirty="0"/>
              <a:t>Impact:</a:t>
            </a:r>
            <a:r>
              <a:rPr lang="en-US" dirty="0"/>
              <a:t> </a:t>
            </a:r>
          </a:p>
          <a:p>
            <a:r>
              <a:rPr lang="en-US" dirty="0"/>
              <a:t>1 = Insignificant,</a:t>
            </a:r>
          </a:p>
          <a:p>
            <a:r>
              <a:rPr lang="en-US" dirty="0"/>
              <a:t>3 = </a:t>
            </a:r>
            <a:r>
              <a:rPr lang="en-US" dirty="0" err="1"/>
              <a:t>Moderarte</a:t>
            </a:r>
            <a:r>
              <a:rPr lang="en-US" dirty="0"/>
              <a:t> (Local disruption)</a:t>
            </a:r>
          </a:p>
          <a:p>
            <a:r>
              <a:rPr lang="en-US" dirty="0"/>
              <a:t>5 = Catastrophic (Full domain takeover / Data Leak)</a:t>
            </a:r>
          </a:p>
          <a:p>
            <a:endParaRPr lang="en-US" dirty="0"/>
          </a:p>
        </p:txBody>
      </p:sp>
    </p:spTree>
    <p:extLst>
      <p:ext uri="{BB962C8B-B14F-4D97-AF65-F5344CB8AC3E}">
        <p14:creationId xmlns:p14="http://schemas.microsoft.com/office/powerpoint/2010/main" val="4123259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3E85-CADA-F1C9-3400-F6926E8DB200}"/>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463A4A23-0CA6-B5F4-50EB-E966A8DD738F}"/>
              </a:ext>
            </a:extLst>
          </p:cNvPr>
          <p:cNvSpPr>
            <a:spLocks noGrp="1"/>
          </p:cNvSpPr>
          <p:nvPr>
            <p:ph type="title"/>
          </p:nvPr>
        </p:nvSpPr>
        <p:spPr>
          <a:xfrm>
            <a:off x="1182623" y="296770"/>
            <a:ext cx="9826754" cy="1132258"/>
          </a:xfrm>
        </p:spPr>
        <p:txBody>
          <a:bodyPr/>
          <a:lstStyle/>
          <a:p>
            <a:r>
              <a:rPr lang="en-US" dirty="0"/>
              <a:t>Consolidated Finding Matrix</a:t>
            </a:r>
          </a:p>
        </p:txBody>
      </p:sp>
      <p:pic>
        <p:nvPicPr>
          <p:cNvPr id="6" name="Content Placeholder 5">
            <a:extLst>
              <a:ext uri="{FF2B5EF4-FFF2-40B4-BE49-F238E27FC236}">
                <a16:creationId xmlns:a16="http://schemas.microsoft.com/office/drawing/2014/main" id="{FC1AF55A-8D0A-BBAC-0BE2-4DEF3F078B0D}"/>
              </a:ext>
            </a:extLst>
          </p:cNvPr>
          <p:cNvPicPr>
            <a:picLocks noGrp="1" noChangeAspect="1"/>
          </p:cNvPicPr>
          <p:nvPr>
            <p:ph idx="1"/>
          </p:nvPr>
        </p:nvPicPr>
        <p:blipFill>
          <a:blip r:embed="rId2"/>
          <a:stretch>
            <a:fillRect/>
          </a:stretch>
        </p:blipFill>
        <p:spPr>
          <a:xfrm>
            <a:off x="1320509" y="1218329"/>
            <a:ext cx="9115396" cy="5402742"/>
          </a:xfrm>
          <a:prstGeom prst="rect">
            <a:avLst/>
          </a:prstGeom>
        </p:spPr>
      </p:pic>
    </p:spTree>
    <p:extLst>
      <p:ext uri="{BB962C8B-B14F-4D97-AF65-F5344CB8AC3E}">
        <p14:creationId xmlns:p14="http://schemas.microsoft.com/office/powerpoint/2010/main" val="1121291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E0ECD-C6E4-7B1D-5579-7DA959800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04EF8-A611-A2AD-534B-82C225D2106B}"/>
              </a:ext>
            </a:extLst>
          </p:cNvPr>
          <p:cNvSpPr>
            <a:spLocks noGrp="1"/>
          </p:cNvSpPr>
          <p:nvPr>
            <p:ph type="ctrTitle"/>
          </p:nvPr>
        </p:nvSpPr>
        <p:spPr>
          <a:xfrm>
            <a:off x="1450428" y="990601"/>
            <a:ext cx="7760807" cy="1792940"/>
          </a:xfrm>
        </p:spPr>
        <p:txBody>
          <a:bodyPr/>
          <a:lstStyle/>
          <a:p>
            <a:r>
              <a:rPr lang="en-US" dirty="0"/>
              <a:t>Remediation &amp; Retesting</a:t>
            </a:r>
          </a:p>
        </p:txBody>
      </p:sp>
      <p:sp>
        <p:nvSpPr>
          <p:cNvPr id="3" name="Text Placeholder 2">
            <a:extLst>
              <a:ext uri="{FF2B5EF4-FFF2-40B4-BE49-F238E27FC236}">
                <a16:creationId xmlns:a16="http://schemas.microsoft.com/office/drawing/2014/main" id="{BEC291EF-08FA-414C-4D69-C7E817FC258B}"/>
              </a:ext>
            </a:extLst>
          </p:cNvPr>
          <p:cNvSpPr txBox="1">
            <a:spLocks/>
          </p:cNvSpPr>
          <p:nvPr/>
        </p:nvSpPr>
        <p:spPr>
          <a:xfrm>
            <a:off x="1450428" y="3518661"/>
            <a:ext cx="5964040" cy="3434638"/>
          </a:xfrm>
          <a:prstGeom prst="rect">
            <a:avLst/>
          </a:prstGeom>
        </p:spPr>
        <p:txBody>
          <a:bodyPr anchor="t">
            <a:normAutofit/>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This is the prescriptive section of our security assessment report, detailing exactly how the client resolves the top security issues and how we verified the fixes.</a:t>
            </a:r>
          </a:p>
        </p:txBody>
      </p:sp>
    </p:spTree>
    <p:extLst>
      <p:ext uri="{BB962C8B-B14F-4D97-AF65-F5344CB8AC3E}">
        <p14:creationId xmlns:p14="http://schemas.microsoft.com/office/powerpoint/2010/main" val="573366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69056-A5CF-75F3-92BD-7F5DB62FEE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478F39-CCFE-4F9C-BAFB-9D5C185C5FDB}"/>
              </a:ext>
            </a:extLst>
          </p:cNvPr>
          <p:cNvSpPr>
            <a:spLocks noGrp="1"/>
          </p:cNvSpPr>
          <p:nvPr>
            <p:ph sz="quarter" idx="14"/>
          </p:nvPr>
        </p:nvSpPr>
        <p:spPr>
          <a:xfrm>
            <a:off x="597319" y="472959"/>
            <a:ext cx="10435993" cy="5786647"/>
          </a:xfrm>
        </p:spPr>
        <p:txBody>
          <a:bodyPr>
            <a:normAutofit fontScale="40000" lnSpcReduction="20000"/>
          </a:bodyPr>
          <a:lstStyle/>
          <a:p>
            <a:pPr marL="0" indent="0">
              <a:buNone/>
            </a:pPr>
            <a:r>
              <a:rPr lang="en-US" sz="2300" b="1" dirty="0"/>
              <a:t>Remediation &amp; Retesting Logs</a:t>
            </a:r>
          </a:p>
          <a:p>
            <a:pPr marL="0" indent="0">
              <a:buNone/>
            </a:pPr>
            <a:r>
              <a:rPr lang="en-US" sz="2100" b="1" dirty="0"/>
              <a:t>Finding VULN-01: Anonymous FTP Enabled</a:t>
            </a:r>
          </a:p>
          <a:p>
            <a:pPr marL="0" lvl="0" indent="0">
              <a:buNone/>
            </a:pPr>
            <a:r>
              <a:rPr lang="en-US" sz="2100" b="1" dirty="0"/>
              <a:t>Remediation Instructions:</a:t>
            </a:r>
            <a:endParaRPr lang="en-US" sz="2100" dirty="0"/>
          </a:p>
          <a:p>
            <a:pPr lvl="1"/>
            <a:r>
              <a:rPr lang="en-US" sz="2100" dirty="0"/>
              <a:t>Open the FTP server configuration file: </a:t>
            </a:r>
            <a:r>
              <a:rPr lang="en-US" sz="2100" dirty="0" err="1"/>
              <a:t>sudo</a:t>
            </a:r>
            <a:r>
              <a:rPr lang="en-US" sz="2100" dirty="0"/>
              <a:t> nano /</a:t>
            </a:r>
            <a:r>
              <a:rPr lang="en-US" sz="2100" dirty="0" err="1"/>
              <a:t>etc</a:t>
            </a:r>
            <a:r>
              <a:rPr lang="en-US" sz="2100" dirty="0"/>
              <a:t>/</a:t>
            </a:r>
            <a:r>
              <a:rPr lang="en-US" sz="2100" dirty="0" err="1"/>
              <a:t>vsftpd.conf</a:t>
            </a:r>
            <a:endParaRPr lang="en-US" sz="2100" dirty="0"/>
          </a:p>
          <a:p>
            <a:pPr lvl="1"/>
            <a:r>
              <a:rPr lang="en-US" sz="2100" dirty="0"/>
              <a:t>Locate the line </a:t>
            </a:r>
            <a:r>
              <a:rPr lang="en-US" sz="2100" dirty="0" err="1"/>
              <a:t>anonymous_enable</a:t>
            </a:r>
            <a:r>
              <a:rPr lang="en-US" sz="2100" dirty="0"/>
              <a:t>=YES and change it to </a:t>
            </a:r>
            <a:r>
              <a:rPr lang="en-US" sz="2100" dirty="0" err="1"/>
              <a:t>anonymous_enable</a:t>
            </a:r>
            <a:r>
              <a:rPr lang="en-US" sz="2100" dirty="0"/>
              <a:t>=NO.</a:t>
            </a:r>
          </a:p>
          <a:p>
            <a:pPr lvl="1"/>
            <a:r>
              <a:rPr lang="en-US" sz="2100" dirty="0"/>
              <a:t>Save the file and restart the service: </a:t>
            </a:r>
            <a:r>
              <a:rPr lang="en-US" sz="2100" dirty="0" err="1"/>
              <a:t>sudo</a:t>
            </a:r>
            <a:r>
              <a:rPr lang="en-US" sz="2100" dirty="0"/>
              <a:t> </a:t>
            </a:r>
            <a:r>
              <a:rPr lang="en-US" sz="2100" dirty="0" err="1"/>
              <a:t>systemctl</a:t>
            </a:r>
            <a:r>
              <a:rPr lang="en-US" sz="2100" dirty="0"/>
              <a:t> restart </a:t>
            </a:r>
            <a:r>
              <a:rPr lang="en-US" sz="2100" dirty="0" err="1"/>
              <a:t>vsftpd</a:t>
            </a:r>
            <a:r>
              <a:rPr lang="en-US" sz="2100" dirty="0"/>
              <a:t>.</a:t>
            </a:r>
          </a:p>
          <a:p>
            <a:pPr marL="0" lvl="0" indent="0">
              <a:buNone/>
            </a:pPr>
            <a:r>
              <a:rPr lang="en-US" sz="2100" b="1" dirty="0"/>
              <a:t>Retesting Procedure &amp; Evidence:</a:t>
            </a:r>
            <a:endParaRPr lang="en-US" sz="2100" dirty="0"/>
          </a:p>
          <a:p>
            <a:pPr lvl="1"/>
            <a:r>
              <a:rPr lang="en-US" sz="2100" i="1" dirty="0"/>
              <a:t>Action:</a:t>
            </a:r>
            <a:r>
              <a:rPr lang="en-US" sz="2100" dirty="0"/>
              <a:t> Run an Nmap NSE script against port 21: </a:t>
            </a:r>
            <a:r>
              <a:rPr lang="en-US" sz="2100" dirty="0" err="1"/>
              <a:t>nmap</a:t>
            </a:r>
            <a:r>
              <a:rPr lang="en-US" sz="2100" dirty="0"/>
              <a:t> --script ftp-anon -p 21 192.168.2.20</a:t>
            </a:r>
          </a:p>
          <a:p>
            <a:pPr lvl="1"/>
            <a:r>
              <a:rPr lang="en-US" sz="2100" i="1" dirty="0"/>
              <a:t>Expected Result:</a:t>
            </a:r>
            <a:r>
              <a:rPr lang="en-US" sz="2100" dirty="0"/>
              <a:t> The output must confirm that anonymous login is explicitly rejected or that the port is closed.</a:t>
            </a:r>
          </a:p>
          <a:p>
            <a:pPr marL="0" indent="0">
              <a:buNone/>
            </a:pPr>
            <a:r>
              <a:rPr lang="en-US" sz="2100" b="1" dirty="0"/>
              <a:t>Finding VULN-02: Cleartext Telnet Active</a:t>
            </a:r>
          </a:p>
          <a:p>
            <a:pPr marL="0" lvl="0" indent="0">
              <a:buNone/>
            </a:pPr>
            <a:r>
              <a:rPr lang="en-US" sz="2100" b="1" dirty="0"/>
              <a:t>Remediation Instructions:</a:t>
            </a:r>
            <a:endParaRPr lang="en-US" sz="2100" dirty="0"/>
          </a:p>
          <a:p>
            <a:pPr lvl="1"/>
            <a:r>
              <a:rPr lang="en-US" sz="2100" dirty="0"/>
              <a:t>Permanently stop and disable the Telnet service daemon: </a:t>
            </a:r>
            <a:r>
              <a:rPr lang="en-US" sz="2100" dirty="0" err="1"/>
              <a:t>sudo</a:t>
            </a:r>
            <a:r>
              <a:rPr lang="en-US" sz="2100" dirty="0"/>
              <a:t> </a:t>
            </a:r>
            <a:r>
              <a:rPr lang="en-US" sz="2100" dirty="0" err="1"/>
              <a:t>systemctl</a:t>
            </a:r>
            <a:r>
              <a:rPr lang="en-US" sz="2100" dirty="0"/>
              <a:t> stop </a:t>
            </a:r>
            <a:r>
              <a:rPr lang="en-US" sz="2100" dirty="0" err="1"/>
              <a:t>inetd</a:t>
            </a:r>
            <a:r>
              <a:rPr lang="en-US" sz="2100" dirty="0"/>
              <a:t> and </a:t>
            </a:r>
            <a:r>
              <a:rPr lang="en-US" sz="2100" dirty="0" err="1"/>
              <a:t>sudo</a:t>
            </a:r>
            <a:r>
              <a:rPr lang="en-US" sz="2100" dirty="0"/>
              <a:t> </a:t>
            </a:r>
            <a:r>
              <a:rPr lang="en-US" sz="2100" dirty="0" err="1"/>
              <a:t>systemctl</a:t>
            </a:r>
            <a:r>
              <a:rPr lang="en-US" sz="2100" dirty="0"/>
              <a:t> disable </a:t>
            </a:r>
            <a:r>
              <a:rPr lang="en-US" sz="2100" dirty="0" err="1"/>
              <a:t>inetd</a:t>
            </a:r>
            <a:r>
              <a:rPr lang="en-US" sz="2100" dirty="0"/>
              <a:t>.</a:t>
            </a:r>
          </a:p>
          <a:p>
            <a:pPr lvl="1"/>
            <a:r>
              <a:rPr lang="en-US" sz="2100" dirty="0"/>
              <a:t>Deploy </a:t>
            </a:r>
            <a:r>
              <a:rPr lang="en-US" sz="2100" b="1" dirty="0"/>
              <a:t>SSH (Port 22)</a:t>
            </a:r>
            <a:r>
              <a:rPr lang="en-US" sz="2100" dirty="0"/>
              <a:t> as the mandatory encrypted replacement protocol for secure management.</a:t>
            </a:r>
          </a:p>
          <a:p>
            <a:pPr marL="0" lvl="0" indent="0">
              <a:buNone/>
            </a:pPr>
            <a:r>
              <a:rPr lang="en-US" sz="2100" b="1" dirty="0"/>
              <a:t>Retesting Procedure &amp; Evidence:</a:t>
            </a:r>
            <a:endParaRPr lang="en-US" sz="2100" dirty="0"/>
          </a:p>
          <a:p>
            <a:pPr lvl="1"/>
            <a:r>
              <a:rPr lang="en-US" sz="2100" i="1" dirty="0"/>
              <a:t>Action:</a:t>
            </a:r>
            <a:r>
              <a:rPr lang="en-US" sz="2100" dirty="0"/>
              <a:t> Run a targeted network socket probe: nc -</a:t>
            </a:r>
            <a:r>
              <a:rPr lang="en-US" sz="2100" dirty="0" err="1"/>
              <a:t>vn</a:t>
            </a:r>
            <a:r>
              <a:rPr lang="en-US" sz="2100" dirty="0"/>
              <a:t> 192.168.1.30 23</a:t>
            </a:r>
          </a:p>
          <a:p>
            <a:pPr lvl="1"/>
            <a:r>
              <a:rPr lang="en-US" sz="2100" i="1" dirty="0"/>
              <a:t>Expected Result:</a:t>
            </a:r>
            <a:r>
              <a:rPr lang="en-US" sz="2100" dirty="0"/>
              <a:t> Connection timeout or "Connection Refused" confirmation string.</a:t>
            </a:r>
          </a:p>
          <a:p>
            <a:pPr marL="0" indent="0">
              <a:buNone/>
            </a:pPr>
            <a:r>
              <a:rPr lang="en-US" sz="2100" b="1" dirty="0"/>
              <a:t>Finding VULN-03: SMBv1 Enabled on Domain Controller</a:t>
            </a:r>
          </a:p>
          <a:p>
            <a:pPr marL="0" lvl="0" indent="0">
              <a:buNone/>
            </a:pPr>
            <a:r>
              <a:rPr lang="en-US" sz="2100" b="1" dirty="0"/>
              <a:t>Remediation Instructions:</a:t>
            </a:r>
            <a:endParaRPr lang="en-US" sz="2100" dirty="0"/>
          </a:p>
          <a:p>
            <a:pPr lvl="1"/>
            <a:r>
              <a:rPr lang="en-US" sz="2100" dirty="0"/>
              <a:t>Open PowerShell on the Domain Controller as Administrator.</a:t>
            </a:r>
          </a:p>
          <a:p>
            <a:pPr lvl="1"/>
            <a:r>
              <a:rPr lang="en-US" sz="2100" dirty="0"/>
              <a:t>Disable the protocol natively using the command: Disable-</a:t>
            </a:r>
            <a:r>
              <a:rPr lang="en-US" sz="2100" dirty="0" err="1"/>
              <a:t>WindowsOptionalFeature</a:t>
            </a:r>
            <a:r>
              <a:rPr lang="en-US" sz="2100" dirty="0"/>
              <a:t> -Online -</a:t>
            </a:r>
            <a:r>
              <a:rPr lang="en-US" sz="2100" dirty="0" err="1"/>
              <a:t>FeatureName</a:t>
            </a:r>
            <a:r>
              <a:rPr lang="en-US" sz="2100" dirty="0"/>
              <a:t> SMB1Protocol.</a:t>
            </a:r>
          </a:p>
          <a:p>
            <a:pPr lvl="1"/>
            <a:r>
              <a:rPr lang="en-US" sz="2100" dirty="0"/>
              <a:t>Reboot the Domain Controller.</a:t>
            </a:r>
          </a:p>
          <a:p>
            <a:pPr marL="0" lvl="0" indent="0">
              <a:buNone/>
            </a:pPr>
            <a:r>
              <a:rPr lang="en-US" sz="2100" b="1" dirty="0"/>
              <a:t>Retesting Procedure &amp; </a:t>
            </a:r>
            <a:r>
              <a:rPr lang="en-US" sz="2100" b="1" dirty="0" err="1"/>
              <a:t>Evidence:</a:t>
            </a:r>
            <a:r>
              <a:rPr lang="en-US" sz="2100" i="1" dirty="0" err="1"/>
              <a:t>Action</a:t>
            </a:r>
            <a:r>
              <a:rPr lang="en-US" sz="2100" i="1" dirty="0"/>
              <a:t>:</a:t>
            </a:r>
            <a:r>
              <a:rPr lang="en-US" sz="2100" dirty="0"/>
              <a:t> Scan using Nmap's targeted SMB dialect checker script: </a:t>
            </a:r>
            <a:r>
              <a:rPr lang="en-US" sz="2100" dirty="0" err="1"/>
              <a:t>nmap</a:t>
            </a:r>
            <a:r>
              <a:rPr lang="en-US" sz="2100" dirty="0"/>
              <a:t> -p 445 --script </a:t>
            </a:r>
            <a:r>
              <a:rPr lang="en-US" sz="2100" dirty="0" err="1"/>
              <a:t>smb</a:t>
            </a:r>
            <a:r>
              <a:rPr lang="en-US" sz="2100" dirty="0"/>
              <a:t>-protocols 192.168.1.10</a:t>
            </a:r>
          </a:p>
          <a:p>
            <a:pPr lvl="0"/>
            <a:r>
              <a:rPr lang="en-US" sz="2100" i="1" dirty="0"/>
              <a:t>Expected Result:</a:t>
            </a:r>
            <a:r>
              <a:rPr lang="en-US" sz="2100" dirty="0"/>
              <a:t> Output demonstrates support strictly for modern cryptographic dialects (SMBv2 and SMBv3) while excluding SMBv1 entirely.</a:t>
            </a:r>
          </a:p>
          <a:p>
            <a:pPr marL="228600" lvl="1" indent="0">
              <a:buNone/>
            </a:pPr>
            <a:endParaRPr lang="en-US" sz="1600" dirty="0"/>
          </a:p>
        </p:txBody>
      </p:sp>
    </p:spTree>
    <p:extLst>
      <p:ext uri="{BB962C8B-B14F-4D97-AF65-F5344CB8AC3E}">
        <p14:creationId xmlns:p14="http://schemas.microsoft.com/office/powerpoint/2010/main" val="1948853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a:xfrm>
            <a:off x="7103850" y="907302"/>
            <a:ext cx="4222117" cy="3697488"/>
          </a:xfrm>
        </p:spPr>
        <p:txBody>
          <a:bodyPr/>
          <a:lstStyle/>
          <a:p>
            <a:r>
              <a:rPr lang="en-US" dirty="0"/>
              <a:t>Thank you</a:t>
            </a:r>
          </a:p>
        </p:txBody>
      </p:sp>
      <p:pic>
        <p:nvPicPr>
          <p:cNvPr id="18" name="Picture Placeholder 17" descr="White objects on a white surface">
            <a:extLst>
              <a:ext uri="{FF2B5EF4-FFF2-40B4-BE49-F238E27FC236}">
                <a16:creationId xmlns:a16="http://schemas.microsoft.com/office/drawing/2014/main" id="{2DF43209-08B5-4410-CE46-63D3FC420156}"/>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p:blipFill>
        <p:spPr>
          <a:xfrm>
            <a:off x="358140" y="333756"/>
            <a:ext cx="6226810" cy="6190488"/>
          </a:xfrm>
        </p:spPr>
      </p:pic>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{6B46311A-FE18-4799-9408-7D9F98DB7B11}f4c2fa09-5552-4190-875c-1979579583e2-TFc553d604-a3b6-4c52-b2ed-3a769335c0fd_win32</Template>
  <TotalTime>86</TotalTime>
  <Words>718</Words>
  <Application>Microsoft Office PowerPoint</Application>
  <PresentationFormat>Widescreen</PresentationFormat>
  <Paragraphs>69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Lora</vt:lpstr>
      <vt:lpstr>Playfair Display Black</vt:lpstr>
      <vt:lpstr>Poppins Light</vt:lpstr>
      <vt:lpstr>Gradient Circle</vt:lpstr>
      <vt:lpstr>Security assessment of a simulated small business network</vt:lpstr>
      <vt:lpstr>Main Task Objective:</vt:lpstr>
      <vt:lpstr>Required Activities </vt:lpstr>
      <vt:lpstr>Expected Deliverable:</vt:lpstr>
      <vt:lpstr>Network Asset Inventory</vt:lpstr>
      <vt:lpstr>Annotated Topology Diagram</vt:lpstr>
      <vt:lpstr>Host Discovery&amp; Port Scanning</vt:lpstr>
      <vt:lpstr>Attack Surface &amp; Service Discrepancy Analysis</vt:lpstr>
      <vt:lpstr>PowerPoint Presentation</vt:lpstr>
      <vt:lpstr>Service Comparison Summary</vt:lpstr>
      <vt:lpstr>PowerPoint Presentation</vt:lpstr>
      <vt:lpstr>Vulnerability Assessment</vt:lpstr>
      <vt:lpstr>Manual  Verification</vt:lpstr>
      <vt:lpstr>Deep Dive Assessment Areas</vt:lpstr>
      <vt:lpstr>Risk Ranking Matrix</vt:lpstr>
      <vt:lpstr>Consolidated Finding Matrix</vt:lpstr>
      <vt:lpstr>Remediation &amp; Retesting</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시린차메사크왐부라</dc:creator>
  <cp:lastModifiedBy>시린차메사크왐부라</cp:lastModifiedBy>
  <cp:revision>19</cp:revision>
  <dcterms:created xsi:type="dcterms:W3CDTF">2026-09-15T16:31:27Z</dcterms:created>
  <dcterms:modified xsi:type="dcterms:W3CDTF">2026-09-15T17:58:25Z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